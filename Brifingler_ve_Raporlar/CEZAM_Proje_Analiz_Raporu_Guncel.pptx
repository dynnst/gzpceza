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8921-7E7F-4D38-9487-798D9922D2ED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7C494-E5FC-4E3A-B1FB-178FC129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9395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8921-7E7F-4D38-9487-798D9922D2ED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7C494-E5FC-4E3A-B1FB-178FC129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703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8921-7E7F-4D38-9487-798D9922D2ED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7C494-E5FC-4E3A-B1FB-178FC129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7882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8921-7E7F-4D38-9487-798D9922D2ED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7C494-E5FC-4E3A-B1FB-178FC129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026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8921-7E7F-4D38-9487-798D9922D2ED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7C494-E5FC-4E3A-B1FB-178FC129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745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8921-7E7F-4D38-9487-798D9922D2ED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7C494-E5FC-4E3A-B1FB-178FC129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0331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8921-7E7F-4D38-9487-798D9922D2ED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7C494-E5FC-4E3A-B1FB-178FC129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4879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8921-7E7F-4D38-9487-798D9922D2ED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7C494-E5FC-4E3A-B1FB-178FC129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3133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8921-7E7F-4D38-9487-798D9922D2ED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7C494-E5FC-4E3A-B1FB-178FC129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578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8921-7E7F-4D38-9487-798D9922D2ED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7C494-E5FC-4E3A-B1FB-178FC129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4044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8921-7E7F-4D38-9487-798D9922D2ED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7C494-E5FC-4E3A-B1FB-178FC129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039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A8921-7E7F-4D38-9487-798D9922D2ED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7C494-E5FC-4E3A-B1FB-178FC129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3362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9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762000" y="762000"/>
            <a:ext cx="10668000" cy="381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Yuvarlatılmış Dikdörtgen 3"/>
          <p:cNvSpPr/>
          <p:nvPr/>
        </p:nvSpPr>
        <p:spPr>
          <a:xfrm>
            <a:off x="762000" y="1143000"/>
            <a:ext cx="3048000" cy="330200"/>
          </a:xfrm>
          <a:prstGeom prst="roundRect">
            <a:avLst/>
          </a:prstGeom>
          <a:solidFill>
            <a:srgbClr val="14284B"/>
          </a:solidFill>
          <a:ln w="12700">
            <a:solidFill>
              <a:srgbClr val="0072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smtClean="0">
                <a:solidFill>
                  <a:srgbClr val="0072EF"/>
                </a:solidFill>
                <a:latin typeface="Segoe UI" panose="020B0502040204020203" pitchFamily="34" charset="0"/>
              </a:rPr>
              <a:t>KURUMSAL PROJE ANALIZI</a:t>
            </a:r>
            <a:endParaRPr lang="tr-TR" sz="10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762000" y="1714500"/>
            <a:ext cx="10668000" cy="72327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tr-TR" sz="4400" b="1" smtClean="0">
                <a:solidFill>
                  <a:srgbClr val="FFFFFF"/>
                </a:solidFill>
                <a:latin typeface="Segoe UI" panose="020B0502040204020203" pitchFamily="34" charset="0"/>
              </a:rPr>
              <a:t>CEZAM (gzpegm)</a:t>
            </a:r>
            <a:endParaRPr lang="tr-TR" sz="4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762000" y="2730500"/>
            <a:ext cx="10668000" cy="53860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tr-TR" sz="1600" smtClean="0">
                <a:solidFill>
                  <a:srgbClr val="B4C3D7"/>
                </a:solidFill>
                <a:latin typeface="Segoe UI" panose="020B0502040204020203" pitchFamily="34" charset="0"/>
              </a:rPr>
              <a:t>Hudut Kapilari Ceza Hesaplama, LMS Egitim Portali ve Mobil Ekosistem
Kapsamli Mimari, Guvenlik ve Kod Inceleme Raporu</a:t>
            </a:r>
            <a:endParaRPr lang="tr-TR" sz="1600">
              <a:solidFill>
                <a:srgbClr val="B4C3D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Yuvarlatılmış Dikdörtgen 6"/>
          <p:cNvSpPr/>
          <p:nvPr/>
        </p:nvSpPr>
        <p:spPr>
          <a:xfrm>
            <a:off x="762000" y="3810000"/>
            <a:ext cx="1714500" cy="381000"/>
          </a:xfrm>
          <a:prstGeom prst="roundRect">
            <a:avLst/>
          </a:prstGeom>
          <a:solidFill>
            <a:srgbClr val="0F2341"/>
          </a:solidFill>
          <a:ln w="12700">
            <a:solidFill>
              <a:srgbClr val="284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smtClean="0">
                <a:solidFill>
                  <a:srgbClr val="D2E1F5"/>
                </a:solidFill>
                <a:latin typeface="Segoe UI" panose="020B0502040204020203" pitchFamily="34" charset="0"/>
              </a:rPr>
              <a:t>ASP.NET MVC 5 (.NET 4.7.2)</a:t>
            </a:r>
            <a:endParaRPr lang="tr-TR" sz="900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Yuvarlatılmış Dikdörtgen 7"/>
          <p:cNvSpPr/>
          <p:nvPr/>
        </p:nvSpPr>
        <p:spPr>
          <a:xfrm>
            <a:off x="2565400" y="3810000"/>
            <a:ext cx="1714500" cy="381000"/>
          </a:xfrm>
          <a:prstGeom prst="roundRect">
            <a:avLst/>
          </a:prstGeom>
          <a:solidFill>
            <a:srgbClr val="0F2341"/>
          </a:solidFill>
          <a:ln w="12700">
            <a:solidFill>
              <a:srgbClr val="284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smtClean="0">
                <a:solidFill>
                  <a:srgbClr val="D2E1F5"/>
                </a:solidFill>
                <a:latin typeface="Segoe UI" panose="020B0502040204020203" pitchFamily="34" charset="0"/>
              </a:rPr>
              <a:t>Entity Framework 6</a:t>
            </a:r>
            <a:endParaRPr lang="tr-TR" sz="900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4368800" y="3810000"/>
            <a:ext cx="1714500" cy="381000"/>
          </a:xfrm>
          <a:prstGeom prst="roundRect">
            <a:avLst/>
          </a:prstGeom>
          <a:solidFill>
            <a:srgbClr val="0F2341"/>
          </a:solidFill>
          <a:ln w="12700">
            <a:solidFill>
              <a:srgbClr val="284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smtClean="0">
                <a:solidFill>
                  <a:srgbClr val="D2E1F5"/>
                </a:solidFill>
                <a:latin typeface="Segoe UI" panose="020B0502040204020203" pitchFamily="34" charset="0"/>
              </a:rPr>
              <a:t>SQL Server CEZA DB</a:t>
            </a:r>
            <a:endParaRPr lang="tr-TR" sz="900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6172200" y="3810000"/>
            <a:ext cx="1714500" cy="381000"/>
          </a:xfrm>
          <a:prstGeom prst="roundRect">
            <a:avLst/>
          </a:prstGeom>
          <a:solidFill>
            <a:srgbClr val="0F2341"/>
          </a:solidFill>
          <a:ln w="12700">
            <a:solidFill>
              <a:srgbClr val="284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smtClean="0">
                <a:solidFill>
                  <a:srgbClr val="D2E1F5"/>
                </a:solidFill>
                <a:latin typeface="Segoe UI" panose="020B0502040204020203" pitchFamily="34" charset="0"/>
              </a:rPr>
              <a:t>Flutter Mobil App</a:t>
            </a:r>
            <a:endParaRPr lang="tr-TR" sz="900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7975600" y="3810000"/>
            <a:ext cx="1714500" cy="381000"/>
          </a:xfrm>
          <a:prstGeom prst="roundRect">
            <a:avLst/>
          </a:prstGeom>
          <a:solidFill>
            <a:srgbClr val="0F2341"/>
          </a:solidFill>
          <a:ln w="12700">
            <a:solidFill>
              <a:srgbClr val="284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smtClean="0">
                <a:solidFill>
                  <a:srgbClr val="D2E1F5"/>
                </a:solidFill>
                <a:latin typeface="Segoe UI" panose="020B0502040204020203" pitchFamily="34" charset="0"/>
              </a:rPr>
              <a:t>.NET 10 Web API</a:t>
            </a:r>
            <a:endParaRPr lang="tr-TR" sz="900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Yuvarlatılmış Dikdörtgen 11"/>
          <p:cNvSpPr/>
          <p:nvPr/>
        </p:nvSpPr>
        <p:spPr>
          <a:xfrm>
            <a:off x="9779000" y="3810000"/>
            <a:ext cx="1714500" cy="381000"/>
          </a:xfrm>
          <a:prstGeom prst="roundRect">
            <a:avLst/>
          </a:prstGeom>
          <a:solidFill>
            <a:srgbClr val="0F2341"/>
          </a:solidFill>
          <a:ln w="12700">
            <a:solidFill>
              <a:srgbClr val="284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smtClean="0">
                <a:solidFill>
                  <a:srgbClr val="D2E1F5"/>
                </a:solidFill>
                <a:latin typeface="Segoe UI" panose="020B0502040204020203" pitchFamily="34" charset="0"/>
              </a:rPr>
              <a:t>SignalR 2.4.3</a:t>
            </a:r>
            <a:endParaRPr lang="tr-TR" sz="900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Yuvarlatılmış Dikdörtgen 12"/>
          <p:cNvSpPr/>
          <p:nvPr/>
        </p:nvSpPr>
        <p:spPr>
          <a:xfrm>
            <a:off x="762000" y="4635500"/>
            <a:ext cx="10668000" cy="13335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E3C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90500" rtlCol="0" anchor="ctr"/>
          <a:lstStyle/>
          <a:p>
            <a:pPr algn="ctr"/>
            <a:r>
              <a:rPr lang="es-ES" sz="1000" b="1" smtClean="0">
                <a:solidFill>
                  <a:srgbClr val="0072EF"/>
                </a:solidFill>
                <a:latin typeface="Segoe UI" panose="020B0502040204020203" pitchFamily="34" charset="0"/>
              </a:rPr>
              <a:t>DURUM RAPORU VE INCELEME KAPSAMI
</a:t>
            </a:r>
            <a:r>
              <a:rPr lang="es-ES" sz="1100" smtClean="0">
                <a:solidFill>
                  <a:srgbClr val="C8D7EB"/>
                </a:solidFill>
                <a:latin typeface="Segoe UI" panose="020B0502040204020203" pitchFamily="34" charset="0"/>
              </a:rPr>
              <a:t>* Derleme Durumu: Visual Studio 2022 MSBuild ile 0 Hata / Basarili
* Inceleme Kapsami: 50+ MVC Controller, Veritabani Modelleri, Guvenlik/Yetkilendirme, Flutter ve Web API
* Tarih: Ekim 2026 | Hazirlayan: Antigravity Kod ve Mimari Analiz Raporu</a:t>
            </a:r>
            <a:endParaRPr lang="tr-TR" sz="1100">
              <a:solidFill>
                <a:srgbClr val="C8D7E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488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01 | YONETICI OZETI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Sistemin Temel Misyonu ve Mevcut Durumu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01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1. Cekirdek Misyon
</a:t>
            </a:r>
            <a:r>
              <a:rPr lang="tr-TR" sz="1100" smtClean="0">
                <a:solidFill>
                  <a:srgbClr val="334155"/>
                </a:solidFill>
                <a:latin typeface="Segoe UI" panose="020B0502040204020203" pitchFamily="34" charset="0"/>
              </a:rPr>
              <a:t>Hudut kapilarinda yabancilarin giris-cikis hareketlerini incelemek, vize ihlallerini ve ikamet asimlarini tespit etmek.
* 90/180 Gun Kurali ve UVR
* Harc, defter bedeli ve ceza hesabi
* TCMB kurlariyla kur donusumu
* C-114, C-113 vb. tahdit kodlari
* Resmi tutanak ve PDF uretimi</a:t>
            </a:r>
            <a:endParaRPr lang="tr-TR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43434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2. Cok Boyutlu Ekosistem
</a:t>
            </a:r>
            <a:r>
              <a:rPr lang="tr-TR" sz="1100" smtClean="0">
                <a:solidFill>
                  <a:srgbClr val="334155"/>
                </a:solidFill>
                <a:latin typeface="Segoe UI" panose="020B0502040204020203" pitchFamily="34" charset="0"/>
              </a:rPr>
              <a:t>Sistem yalnizca bir ceza hesaplama araci degil; eksiksiz bir operasyon portalidir.
* Web Portali: 50+ MVC Controller
* LMS Portali: Personel egitimi, sinavlar, soru bankasi ve sertifikalandirma
* Iletisim: SignalR anlik sohbet ve bot
* Flutter Mobil: Sahada mobil kullanim
* .NET 10 API: Abonelik ve kota servisi</a:t>
            </a:r>
            <a:endParaRPr lang="tr-TR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81915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3. Saglik ve Kritik Odak
</a:t>
            </a:r>
            <a:r>
              <a:rPr lang="tr-TR" sz="1100" smtClean="0">
                <a:solidFill>
                  <a:srgbClr val="334155"/>
                </a:solidFill>
                <a:latin typeface="Segoe UI" panose="020B0502040204020203" pitchFamily="34" charset="0"/>
              </a:rPr>
              <a:t>Genel teknik saglik yuksek ancak odaklanilmasi gereken alanlar var.
* Derleme: 0 Hata ile Basarili
* Hata Yonetimi: ErrorController ve ozel 401/403/404/500 sayfalari hazir
* Guvenlik Odak: UserAuthorize cookie vs IPrincipal senkronu gerekiyor
* Mimari Odak: Fat Controller yapisindan Service katmanina gecis</a:t>
            </a:r>
            <a:endParaRPr lang="tr-TR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19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02 | TEKNOLOJI YIGINI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Kurumsal Cok Katmanli Mimari ve Bilesenler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02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206500"/>
            <a:ext cx="53975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rtlCol="0" anchor="ctr"/>
          <a:lstStyle/>
          <a:p>
            <a:pPr algn="ctr"/>
            <a:r>
              <a:rPr lang="tr-TR" sz="14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Web Katmani ve Veritabani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ASP.NET MVC 5.2.4 ve .NET Framework 4.7.2 (C#)
* Entity Framework 6.5.1 (Database-First EDMX)
* Microsoft SQL Server (CEZA Veritabani, 50+ tablo)
* OWIN ve ASP.NET Web API 2 entegrasyonu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6286500" y="1206500"/>
            <a:ext cx="53975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rtlCol="0" anchor="ctr"/>
          <a:lstStyle/>
          <a:p>
            <a:pPr algn="ctr"/>
            <a:r>
              <a:rPr lang="tr-TR" sz="14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Arayuz ve Sunum Katmani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AdminLTE 3 Responsive Dashboard (Bootstrap 4)
* SignalR 2.4.3 ile anlik cift yonlu mesajlasma
* DevExpress ve DevExtreme zengin veri bilesenleri
* Ozel JavaScript hesaplama motoru (custom.js)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508000" y="3810000"/>
            <a:ext cx="53975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rtlCol="0" anchor="ctr"/>
          <a:lstStyle/>
          <a:p>
            <a:pPr algn="ctr"/>
            <a:r>
              <a:rPr lang="nb-NO" sz="14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Mobil Ekosistem (Flutter ve .NET 10)
</a:t>
            </a:r>
            <a:r>
              <a:rPr lang="nb-NO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cezam_calculator: Flutter (Dart) mobil uygulama
* VizeIhlal.Api: Modern .NET 10 Minimal Web API
* Mobil cihaz uzerinden yerel PDF olusturma ve dogrudan yazdirma
* PBKDF2 sifreleme ve gunluk sorgu kota modeli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Yuvarlatılmış Dikdörtgen 11"/>
          <p:cNvSpPr/>
          <p:nvPr/>
        </p:nvSpPr>
        <p:spPr>
          <a:xfrm>
            <a:off x="6286500" y="3810000"/>
            <a:ext cx="53975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rtlCol="0" anchor="ctr"/>
          <a:lstStyle/>
          <a:p>
            <a:pPr algn="ctr"/>
            <a:r>
              <a:rPr lang="tr-TR" sz="14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Raporlama ve Dokuman Motoru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ClosedXML ve DocX ile dinamik Excel/Word uretimi
* Xceed Words ve PDF / iTextSharp motorlari
* Resmi ihlal tebligati ve tahdit karari belgeleri
* Gelismis veri disa aktarma (Export) yetenekleri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5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03 | FONKSIYONEL MODULLER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Platformun Ana Islevleri ve Uctan Uca Is Akisi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03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Ceza ve Ihlal Motoru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Tarih Ayristirma: 'dd.MM.yyyy' biciminde coklu giris-cikis seferleri analizi
* Kural Setleri: UVR, AUH, Beyaz Rusya 30/90 gun ve gunubirlik ozel kurallari
* Tutar Hesabi: Vize harci + Defter bedeli + Idari para cezasi
* Doviz Donusumu: TCMB guncel kurlariyla otomatik Turk Lirasi cevrimi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43434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Tahdit ve Tutanak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Tahdit Kodlari: C-114 (1-3 ay), C-113 (3-6 ay), V-70 vb. yasal kod tespiti
* Odeme Ayrimi: Cezayi odeyen / odemeyen yabanci icin farkli tahdit kurallari
* Belge Olusturma: Tutanak, tebligat ve dilekce PDF ciktisi
* Denetim Izi: Yapilan her hesaplamanin kullanici/sicil bazli loglanmasi (E_History)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81915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LMS ve Iletisim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Egitim Modulu: Pasaport/hudut personeli icin kurslar ve icerik yonetimi
* Sinav Havuzu: Coktan secmeli sorular, ogrenci sinavlari ve notlandirma
* Sertifikasyon: Basari kriterini saglayan personele otomatik sertifika basimi
* SignalR Sohbet: Personel arasi anlik mesajlasma ve Chatbot asistani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346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04 | GUVENLIK DENETIMI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Oncelikli Guvenlik Bulgulari ve Cozum Yollari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04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143000"/>
            <a:ext cx="11176000" cy="116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01600" rIns="203200" rtlCol="0" anchor="ctr"/>
          <a:lstStyle/>
          <a:p>
            <a:pPr algn="ctr"/>
            <a:r>
              <a:rPr lang="tr-TR" sz="1300" b="1" smtClean="0">
                <a:solidFill>
                  <a:srgbClr val="DC2626"/>
                </a:solidFill>
                <a:latin typeface="Segoe UI Semibold" panose="020B0702040204020203" pitchFamily="34" charset="0"/>
              </a:rPr>
              <a:t>[YUKSEK ONCELIK] UserAuthorize Cookie vs IPrincipal Uyusmazligi
</a:t>
            </a:r>
            <a:r>
              <a:rPr lang="tr-TR" sz="1000" smtClean="0">
                <a:solidFill>
                  <a:srgbClr val="334155"/>
                </a:solidFill>
                <a:latin typeface="Segoe UI" panose="020B0502040204020203" pitchFamily="34" charset="0"/>
              </a:rPr>
              <a:t>Sorun: Oturum acildiginda ozel 'Token' cerezi yaziliyor ancak ASP.NET Forms/Identity IPrincipal nesnesi set edilmiyor. Bu yuzden User.Identity.IsAuthenticated surekli false donuyor; rol yetkisi eksik olan kullanici 403 Forbidden yerine /Giris sayfasina yonlendiriliyor.
Cozum: UserAuthorize icinde token dogrulamasi yapildiginda HttpContext.User nesnesine GenericPrincipal atanmali veya HandleUnauthorizedRequest icinde ozel token kontrolu ile 403 uretilmeli.</a:t>
            </a:r>
            <a:endParaRPr lang="tr-TR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508000" y="2413000"/>
            <a:ext cx="11176000" cy="116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01600" rIns="203200" rtlCol="0" anchor="ctr"/>
          <a:lstStyle/>
          <a:p>
            <a:pPr algn="ctr"/>
            <a:r>
              <a:rPr lang="tr-TR" sz="1300" b="1" smtClean="0">
                <a:solidFill>
                  <a:srgbClr val="DC2626"/>
                </a:solidFill>
                <a:latin typeface="Segoe UI Semibold" panose="020B0702040204020203" pitchFamily="34" charset="0"/>
              </a:rPr>
              <a:t>[YUKSEK ONCELIK] Controller Ici Acik Endpoint'ler ([NonAction] Eksikligi)
</a:t>
            </a:r>
            <a:r>
              <a:rPr lang="tr-TR" sz="1000" smtClean="0">
                <a:solidFill>
                  <a:srgbClr val="334155"/>
                </a:solidFill>
                <a:latin typeface="Segoe UI" panose="020B0502040204020203" pitchFamily="34" charset="0"/>
              </a:rPr>
              <a:t>Sorun: CalculateController ve AjaxController icinde yer alan 'public E_User getuserby()' ve 'public E_User GetUser()' metotlari [NonAction] niteligine sahip degil. ASP.NET MVC bu metotlari dogrudan HTTP Action olarak disariya acar.
Cozum: Bu metotlara derhal [NonAction] niteligi eklenmeli ya da metot erisim belirteci 'private' / 'protected' yapilmalidir.</a:t>
            </a:r>
            <a:endParaRPr lang="tr-TR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508000" y="3683000"/>
            <a:ext cx="11176000" cy="116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01600" rIns="203200" rtlCol="0" anchor="ctr"/>
          <a:lstStyle/>
          <a:p>
            <a:pPr algn="ctr"/>
            <a:r>
              <a:rPr lang="tr-TR" sz="1300" b="1" smtClean="0">
                <a:solidFill>
                  <a:srgbClr val="D97706"/>
                </a:solidFill>
                <a:latin typeface="Segoe UI Semibold" panose="020B0702040204020203" pitchFamily="34" charset="0"/>
              </a:rPr>
              <a:t>[ORTA ONCELIK] Global Request Validation'in Kapatilmasi
</a:t>
            </a:r>
            <a:r>
              <a:rPr lang="tr-TR" sz="1000" smtClean="0">
                <a:solidFill>
                  <a:srgbClr val="334155"/>
                </a:solidFill>
                <a:latin typeface="Segoe UI" panose="020B0502040204020203" pitchFamily="34" charset="0"/>
              </a:rPr>
              <a:t>Sorun: Web.config icinde '&lt;pages validateRequest="false"&gt;' tanimlanmis. Bu durum ASP.NET'in yerlesik XSS korumasini tum sistem genelinde kapatmaktadir.
Cozum: Global dogrulama acilmali; zengin metin kabul eden aksiyonlarda [ValidateInput(false)] ve pakette mevcut olan HtmlSanitizer kutuphanesi aktif kullanilmalidir.</a:t>
            </a:r>
            <a:endParaRPr lang="tr-TR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Yuvarlatılmış Dikdörtgen 11"/>
          <p:cNvSpPr/>
          <p:nvPr/>
        </p:nvSpPr>
        <p:spPr>
          <a:xfrm>
            <a:off x="508000" y="4953000"/>
            <a:ext cx="11176000" cy="116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01600" rIns="203200" rtlCol="0" anchor="ctr"/>
          <a:lstStyle/>
          <a:p>
            <a:pPr algn="ctr"/>
            <a:r>
              <a:rPr lang="tr-TR" sz="1300" b="1" smtClean="0">
                <a:solidFill>
                  <a:srgbClr val="D97706"/>
                </a:solidFill>
                <a:latin typeface="Segoe UI Semibold" panose="020B0702040204020203" pitchFamily="34" charset="0"/>
              </a:rPr>
              <a:t>[ORTA ONCELIK] Eksik HTTP Verb ve CSRF Korumasi
</a:t>
            </a:r>
            <a:r>
              <a:rPr lang="tr-TR" sz="1000" smtClean="0">
                <a:solidFill>
                  <a:srgbClr val="334155"/>
                </a:solidFill>
                <a:latin typeface="Segoe UI" panose="020B0502040204020203" pitchFamily="34" charset="0"/>
              </a:rPr>
              <a:t>Sorun: AjaxController'daki Calculate1, Calculate2, addhistory gibi veri isleyen metotlarda [HttpPost] ve [ValidateAntiForgeryToken] kisitlamasi bulunmamaktadir.
Cozum: Ilgili tum AJAX uclarina acikca [HttpPost] ve anti-forgery token korumasi eklenmelidir.</a:t>
            </a:r>
            <a:endParaRPr lang="tr-TR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87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05 | KOD KALITESI VE MIMARI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Surdurulebilirlik, Temiz Mimari ve Refactoring Ihtiyaclari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05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1. Is Mantigi Ayrimi
(Fat Controller Sorunu)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Mevcut Durum:
Hesaplama kurallari, gun/ay farklari, UVR kontrolleri ve ceza formulleri dogrudan AjaxController icinde (~400 satir) yer aliyor.
Oneri ve Kazanc:
Is kurallari bagimsiz bir 'ICalculationService' sinifina tasinmalidir.
* Controller sadece HTTP istek/yanit yonetir
* xUnit/NUnit ile birim testler yazilabilir
* Mobil API ile ortak kutuphane paylasimi saglanir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43434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2. Konfigurasyon ve
Baglanti Yonetimi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Mevcut Durum:
Web.config icinde DESKTOP-76ALEFB\\CEZA ve ANTHGZPGIRIS\\BILTEK gibi yerel makine baglanti dizgeleri dogrudan kod icinde kayitlidir.
Oneri ve Kazanc:
* Canli ortam icin Web.Release.config transformasyonlari etkinlestirilmeli
* Baglanti ve gizli anahtarlar ortam degiskenlerine (Environment Variables) tasinmali
* Hassas verilerin repoya sizmasi onlenmeli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81915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3. Depolama ve Klasor
Yapisi Temizligi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Mevcut Durum:
Proje kokunde 'CEZAM\\CEZAM\\CEZAM' seklinde ic ice gecmis bir klasor yapisi ve 4 GB boyutunda bir 'CEZAM.zip' yedegi bulunuyor.
Oneri ve Kazanc:
* 4 GB'lik zip arsivi harici guvenli depolamaya tasinarak repo rahatlatilmali
* Dizin yapisi sadelestirilmeli
* Git klonlama ve derleme hizlari ciddi oranda artacaktir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011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06 | MOBIL EKOSISTEM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Saha Operasyonu: Flutter Mobil Uygulama ve .NET 10 API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06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143000"/>
            <a:ext cx="5397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228600" rIns="254000" rtlCol="0" anchor="ctr"/>
          <a:lstStyle/>
          <a:p>
            <a:pPr algn="ctr"/>
            <a:r>
              <a:rPr lang="tr-TR" sz="16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Flutter Mobil Uygulama (cezam_calculator)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Saha personeli icin tasarlanmis bagimsiz mobil hesaplama araci:
* Coklu Dil Destegi: Yerlesik AppLocalizations ile Turkce ve Ingilizce destegi
* Sezgisel Arayuz: country_picker ile bayrak ve kod bazli hizli ulke/vize secimi
* Yerel Belge Uretimi: Harici sunucuya ihtiyac duymadan cihaz uzerinde PDF olusturma (pdf ve printing paketleri)
* Cevrimdisi Calisma: SharedPreferences ile yerel ayarlari ve onbellegi saklama yetenegi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6286500" y="1143000"/>
            <a:ext cx="5397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228600" rIns="254000" rtlCol="0" anchor="ctr"/>
          <a:lstStyle/>
          <a:p>
            <a:pPr algn="ctr"/>
            <a:r>
              <a:rPr lang="tr-TR" sz="16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Modern .NET 10 Web API (VizeIhlal.Api)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Mobil istemcileri besleyen yuksek performansli arka uc servisi:
* Modern Mimari: En guncel .NET 10 Minimal API ve C# 13+ ozellikleri
* Katmanli Kota Modeli: Standart (1), Gumus (3), Altin (5) ve Sinirsiz Admin gunluk sorgu limitleri
* Yuksek Guvenlik: PBKDF2 (100.000 iterasyon, SHA-256) endustri standardi parola ozetleme
* Hafif Veri Yonetimi: JSON tabanli hizli oturum ve kota kayit mekanizmasi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866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07 | STRATEJIK YOL HARITASI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Adim Adim Gelistirme, Guvenlik ve Modernizasyon Plani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07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143000"/>
            <a:ext cx="3492500" cy="501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pt-BR" sz="1400" b="1" smtClean="0">
                <a:solidFill>
                  <a:srgbClr val="DC2626"/>
                </a:solidFill>
                <a:latin typeface="Segoe UI Semibold" panose="020B0702040204020203" pitchFamily="34" charset="0"/>
              </a:rPr>
              <a:t>FAZ 1: ACIL GUVENLIK
(1 - 3 Gun)
</a:t>
            </a:r>
            <a:r>
              <a:rPr lang="pt-B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Hedef: Guvenlik aciklarini kapatmak
1. Controller'lardaki GetUser() gibi metotlara [NonAction] eklenmesi
2. UserAuthorize icinde token dogrulamasinin IPrincipal ile senkronlanmasi ve 403 Forbidden uretimi
3. AjaxController uclarina [HttpPost] ve Anti-Forgery korumasi eklenmesi
4. Global Request Validation kontrolu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4343400" y="1143000"/>
            <a:ext cx="3492500" cy="501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400" b="1" smtClean="0">
                <a:solidFill>
                  <a:srgbClr val="D97706"/>
                </a:solidFill>
                <a:latin typeface="Segoe UI Semibold" panose="020B0702040204020203" pitchFamily="34" charset="0"/>
              </a:rPr>
              <a:t>FAZ 2: REFACTORING
(2 - 4 Hafta)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Hedef: Test edilebilirlik ve Temizlik
1. Ceza hesaplama kurallarinin ICalculationService katmanina tasinmasi
2. Kritik tarih/ceza kurallari icin xUnit birim testlerinin yazilmasi
3. Web.config gizli anahtarlarinin ve baglanti dizgelerinin ortam bazli yapilandirilmasi
4. 4 GB'lik zip arsivinin temizlenmesi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8191500" y="1143000"/>
            <a:ext cx="3492500" cy="501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pt-BR" sz="1400" b="1" smtClean="0">
                <a:solidFill>
                  <a:srgbClr val="10955D"/>
                </a:solidFill>
                <a:latin typeface="Segoe UI Semibold" panose="020B0702040204020203" pitchFamily="34" charset="0"/>
              </a:rPr>
              <a:t>FAZ 3: MODERNIZASYON
(3 - 6 Ay)
</a:t>
            </a:r>
            <a:r>
              <a:rPr lang="pt-B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Hedef: .NET Core ve Bulut Mimarisi
1. Web projesinin ASP.NET Core (.NET 8/10) ve EF Core'a tasinmasi
2. Mobil API ile Web API'nin ortak bir kurumsal cekirdekte birlestirilmesi
3. Docker konteynerizasyon ve Linux barindirma uyumlulugu
4. Yuksek performans ve minimum sunucu maliyeti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081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9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Yuvarlatılmış Dikdörtgen 2"/>
          <p:cNvSpPr/>
          <p:nvPr/>
        </p:nvSpPr>
        <p:spPr>
          <a:xfrm>
            <a:off x="762000" y="762000"/>
            <a:ext cx="2794000" cy="330200"/>
          </a:xfrm>
          <a:prstGeom prst="roundRect">
            <a:avLst/>
          </a:prstGeom>
          <a:solidFill>
            <a:srgbClr val="14284B"/>
          </a:solidFill>
          <a:ln w="12700">
            <a:solidFill>
              <a:srgbClr val="0072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smtClean="0">
                <a:solidFill>
                  <a:srgbClr val="0072EF"/>
                </a:solidFill>
                <a:latin typeface="Segoe UI" panose="020B0502040204020203" pitchFamily="34" charset="0"/>
              </a:rPr>
              <a:t>SONUC DEGERLENDIRMESI</a:t>
            </a:r>
            <a:endParaRPr lang="tr-TR" sz="10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762000" y="1270000"/>
            <a:ext cx="10668000" cy="60016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tr-TR" sz="3600" b="1" smtClean="0">
                <a:solidFill>
                  <a:srgbClr val="FFFFFF"/>
                </a:solidFill>
                <a:latin typeface="Segoe UI" panose="020B0502040204020203" pitchFamily="34" charset="0"/>
              </a:rPr>
              <a:t>Yonetici Karar ve Aksiyon Ozeti</a:t>
            </a:r>
            <a:endParaRPr lang="tr-TR" sz="3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Yuvarlatılmış Dikdörtgen 4"/>
          <p:cNvSpPr/>
          <p:nvPr/>
        </p:nvSpPr>
        <p:spPr>
          <a:xfrm>
            <a:off x="762000" y="2222500"/>
            <a:ext cx="5143500" cy="3683000"/>
          </a:xfrm>
          <a:prstGeom prst="roundRect">
            <a:avLst/>
          </a:prstGeom>
          <a:solidFill>
            <a:srgbClr val="0E203C"/>
          </a:solidFill>
          <a:ln w="12700">
            <a:solidFill>
              <a:srgbClr val="2341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254000" rIns="254000" rtlCol="0" anchor="ctr"/>
          <a:lstStyle/>
          <a:p>
            <a:pPr algn="ctr"/>
            <a:r>
              <a:rPr lang="tr-TR" sz="1600" b="1" smtClean="0">
                <a:solidFill>
                  <a:srgbClr val="10955D"/>
                </a:solidFill>
                <a:latin typeface="Segoe UI Semibold" panose="020B0702040204020203" pitchFamily="34" charset="0"/>
              </a:rPr>
              <a:t>GUCLU YONLER
</a:t>
            </a:r>
            <a:r>
              <a:rPr lang="tr-TR" sz="1100" b="1" smtClean="0">
                <a:solidFill>
                  <a:srgbClr val="D2E1F5"/>
                </a:solidFill>
                <a:latin typeface="Segoe UI" panose="020B0502040204020203" pitchFamily="34" charset="0"/>
              </a:rPr>
              <a:t>* Derleme Basarisi: 0 hata ile sorunsuz derleniyor.
* Zengin Islevsellik: Yalnizca hesaplama degil; LMS, SignalR ve form uretimini tek catida topluyor.
* Mobil Vizyon: Flutter ve modern .NET 10 API ile saha gereksinimleri ongurulmus.
* Hazir Hata Altyapisi: Custom error sayfalari ve log mekanizmasi mevcut.</a:t>
            </a:r>
            <a:endParaRPr lang="tr-TR" sz="1100" b="1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Yuvarlatılmış Dikdörtgen 5"/>
          <p:cNvSpPr/>
          <p:nvPr/>
        </p:nvSpPr>
        <p:spPr>
          <a:xfrm>
            <a:off x="6286500" y="2222500"/>
            <a:ext cx="5143500" cy="3683000"/>
          </a:xfrm>
          <a:prstGeom prst="roundRect">
            <a:avLst/>
          </a:prstGeom>
          <a:solidFill>
            <a:srgbClr val="0E203C"/>
          </a:solidFill>
          <a:ln w="12700">
            <a:solidFill>
              <a:srgbClr val="2341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254000" rIns="254000" rtlCol="0" anchor="ctr"/>
          <a:lstStyle/>
          <a:p>
            <a:pPr algn="ctr"/>
            <a:r>
              <a:rPr lang="tr-TR" sz="1600" b="1" smtClean="0">
                <a:solidFill>
                  <a:srgbClr val="0072EF"/>
                </a:solidFill>
                <a:latin typeface="Segoe UI Semibold" panose="020B0702040204020203" pitchFamily="34" charset="0"/>
              </a:rPr>
              <a:t>ONCELIKLI ADIMLAR
</a:t>
            </a:r>
            <a:r>
              <a:rPr lang="tr-TR" sz="1100" b="1" smtClean="0">
                <a:solidFill>
                  <a:srgbClr val="D2E1F5"/>
                </a:solidFill>
                <a:latin typeface="Segoe UI" panose="020B0502040204020203" pitchFamily="34" charset="0"/>
              </a:rPr>
              <a:t>1. Guvenlik Sikilastirma: [NonAction] nitelikleri ve UserAuthorize yetkilendirme kontrolu hemen duzeltilmeli.
2. Servis Katmani: Hesaplama motoru bagimsiz bir servise cekilerek test kapsami artirilmali.
3. Depolama Temizligi: 4 GB'lik zip yedegi harici ortama tasinmali.
4. Uzun Vadeli Goc: .NET Core modernizasyonuna hazirlik yapilmali.</a:t>
            </a:r>
            <a:endParaRPr lang="tr-TR" sz="1100" b="1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762000" y="6159500"/>
            <a:ext cx="10668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ctr"/>
            <a:r>
              <a:rPr lang="tr-TR" sz="1000" smtClean="0">
                <a:solidFill>
                  <a:srgbClr val="8CA0BE"/>
                </a:solidFill>
                <a:latin typeface="Segoe UI" panose="020B0502040204020203" pitchFamily="34" charset="0"/>
              </a:rPr>
              <a:t>CEZAM Projesi Mimari Degerlendirmesi - Tesekkurler</a:t>
            </a:r>
            <a:endParaRPr lang="tr-TR" sz="1000">
              <a:solidFill>
                <a:srgbClr val="8CA0BE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778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Microsoft Office PowerPoint</Application>
  <PresentationFormat>Özel</PresentationFormat>
  <Paragraphs>65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Segoe UI Semibold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Naşit</dc:creator>
  <cp:lastModifiedBy>Naşit</cp:lastModifiedBy>
  <cp:revision>1</cp:revision>
  <dcterms:created xsi:type="dcterms:W3CDTF">2026-10-13T13:19:01Z</dcterms:created>
  <dcterms:modified xsi:type="dcterms:W3CDTF">2026-10-13T13:19:01Z</dcterms:modified>
</cp:coreProperties>
</file>