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rport_police_login_wallpaper_1792133875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4114800" cy="384048"/>
          </a:xfrm>
          <a:prstGeom prst="roundRect">
            <a:avLst/>
          </a:prstGeom>
          <a:solidFill>
            <a:srgbClr val="0E27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✦  T.C. İÇİŞLERİ BAKANLIĞI • EGM • GİGM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CEZAM — HUDUT KAPILARI</a:t>
            </a:r>
            <a:br/>
            <a:r>
              <a:t>BİLGİ VE OPERASYON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BEE3F8"/>
                </a:solidFill>
                <a:latin typeface="Segoe UI"/>
              </a:defRPr>
            </a:pPr>
            <a:r>
              <a:t>Üst Yönetim ve Yetkili Merciler İçin Canlıya Geçiş (Production Readiness),</a:t>
            </a:r>
            <a:br/>
            <a:r>
              <a:t>Mevzuat Analizi ve Ekosistem Brifing Sunumu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10362895" cy="1005840"/>
          </a:xfrm>
          <a:prstGeom prst="roundRect">
            <a:avLst/>
          </a:prstGeom>
          <a:solidFill>
            <a:srgbClr val="0E1E30"/>
          </a:solidFill>
          <a:ln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📌  SUNUM KAPSAMI: Ceza Hesaplama Çekirdeği (6458 SK. m.102) • Kaşe Vize (P-60) • V-84 Şartlı Giriş • Tahdit Kodları • LMS Eğitim Portalı • Mobil Ekosistem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Sürüm: v2.4 (Production-Ready)   |   Tarih: Ekim 2026   |   Derleme: 0 Hata / 0 Uyarı (Enterprise Release)   |   Hazırlayan: Hudut Kapıları Proje Ekibi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STRATEJIK GENEL BAKIŞ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Yönetici Özeti: Çekirdek Misyon ve Değer Önerisi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Hudut kapılarında yabancıların vize ve ikamet ihlallerinin sıfır hata ile yönetilmesi ve hazine gelirlerinin güvence altına alınması.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2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  ⚠️  Mevcut Operasyonel Riskler ve Zorluklar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Manuel Hesaplama Hataları: </a:t>
            </a:r>
            <a:r>
              <a:rPr sz="1000">
                <a:solidFill>
                  <a:srgbClr val="64748B"/>
                </a:solidFill>
                <a:latin typeface="Segoe UI"/>
              </a:rPr>
              <a:t>90/180 gün kuralı, Belarus kuralı ve parça parça seferlerin elle sayılması sonucu hatalı ceza kesilme riski.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Zaman Kaybı ve Kuyruklar: </a:t>
            </a:r>
            <a:r>
              <a:rPr sz="1000">
                <a:solidFill>
                  <a:srgbClr val="64748B"/>
                </a:solidFill>
                <a:latin typeface="Segoe UI"/>
              </a:rPr>
              <a:t>Pasaport kontrol kulübesinde bir yabancının ceza hesabının 10-15 dakika sürmesi, yolcu akışını tıkaması.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Mevzuat Karmaşıklığı: </a:t>
            </a:r>
            <a:r>
              <a:rPr sz="1000">
                <a:solidFill>
                  <a:srgbClr val="64748B"/>
                </a:solidFill>
                <a:latin typeface="Segoe UI"/>
              </a:rPr>
              <a:t>Harçlar Kanunu, değerli kağıt bedeli, döviz kurları ve yaş indirimlerinin memurlar arasında farklı yorumlanması.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Hazine Gelir Kaçağı: </a:t>
            </a:r>
            <a:r>
              <a:rPr sz="1000">
                <a:solidFill>
                  <a:srgbClr val="64748B"/>
                </a:solidFill>
                <a:latin typeface="Segoe UI"/>
              </a:rPr>
              <a:t>Eksik harç tahakkuku veya ceza ödemeden kaçış durumlarında anlık tahdit konulamaması.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64592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1645920"/>
            <a:ext cx="521208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  ✅  CEZAM Çözümü ve Kurumsal Faydalar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402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Sıfır Hata ve Otomasyon: </a:t>
            </a:r>
            <a:r>
              <a:rPr sz="1000">
                <a:solidFill>
                  <a:srgbClr val="64748B"/>
                </a:solidFill>
                <a:latin typeface="Segoe UI"/>
              </a:rPr>
              <a:t>6458 sayılı Kanun m.102 ve 492 SK. kurallarını milisaniyeler içinde işleten yapay zeka destekli hesaplama motoru.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10 Saniyede Kesin İşlem: </a:t>
            </a:r>
            <a:r>
              <a:rPr sz="1000">
                <a:solidFill>
                  <a:srgbClr val="64748B"/>
                </a:solidFill>
                <a:latin typeface="Segoe UI"/>
              </a:rPr>
              <a:t>Pasaport taratıldığı anda ihlal süresi, harçlar, döviz kuru ve toplam tutarın tek tıkla ekrana dökülmesi.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Otomatik Tahdit Kodu Eşleşmesi: </a:t>
            </a:r>
            <a:r>
              <a:rPr sz="1000">
                <a:solidFill>
                  <a:srgbClr val="64748B"/>
                </a:solidFill>
                <a:latin typeface="Segoe UI"/>
              </a:rPr>
              <a:t>Cezayı ödeyen için V-84 taahhütnamesi; ödemeyen için derhal Ç-114/Ç-113 giriş yasağı tesis edilmesi.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• Eğitim ve Sertifikasyon: </a:t>
            </a:r>
            <a:r>
              <a:rPr sz="1000">
                <a:solidFill>
                  <a:srgbClr val="64748B"/>
                </a:solidFill>
                <a:latin typeface="Segoe UI"/>
              </a:rPr>
              <a:t>Personelin sürekli mevzuat sınavlarına tabi tutulduğu ve yetkinliğin canlı izlendiği entegre LMS portalı.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24688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10 SANİYE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İşlem Süresi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%98 Zaman Tasarrufu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3864" y="493776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3864" y="493776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5304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%100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Mevzuat Uyumu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6458 SK. &amp; 492 SK. V Sayılı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93776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0 HATA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Hesaplama Doğruluğu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Hazine Gelir Kaçağına 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8552" y="493776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4937760"/>
            <a:ext cx="246888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5074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333EA"/>
                </a:solidFill>
                <a:latin typeface="Segoe UI"/>
              </a:defRPr>
            </a:pPr>
            <a:r>
              <a:t>TAM ENTEGRE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Ekosistem Mimarisi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Web + Mobil + API + LMS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TEKNOLOJI VE MIMARI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CEZAM Ekosistem Mimarisi ve Modüler Yapı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Modern web, mobil ve çekirdek iş motorlarıyla donatılmış çok katmanlı kurumsal altyapı.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3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246888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Web Yönetim Portalı</a:t>
            </a:r>
          </a:p>
          <a:p>
            <a:pPr>
              <a:defRPr sz="950">
                <a:solidFill>
                  <a:srgbClr val="EBF5FF"/>
                </a:solidFill>
                <a:latin typeface="Segoe UI"/>
              </a:defRPr>
            </a:pPr>
            <a:r>
              <a:t>gzpegm (ASP.NET MVC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İdareci ve pasaport memuru web kontrol arayüzü.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AdminLTE 3 / Bootstrap 4 responsive modern arayüz.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SignalR 2.4.3 ile anlık bot, duyuru ve mesajlaşma.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Detaylı yetkilendirme (1-6 arası granular roller).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1645920"/>
            <a:ext cx="24688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Çekirdek İş Motorları</a:t>
            </a:r>
          </a:p>
          <a:p>
            <a:pPr>
              <a:defRPr sz="950">
                <a:solidFill>
                  <a:srgbClr val="EBF5FF"/>
                </a:solidFill>
                <a:latin typeface="Segoe UI"/>
              </a:defRPr>
            </a:pPr>
            <a:r>
              <a:t>Hesaplama &amp; Karar Motoru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5146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Ceza Hesaplama Motoru (/Calculate1, /Calculate2).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Tahdit Kodu Eşleştirme Motoru (/Kodgetir).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Kaşe Vize (P-60) ve V-84 Şartlı Giriş Motoru.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ClosedXML &amp; iTextSharp ile resmi PDF/Excel çıktısı.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645920"/>
            <a:ext cx="24688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Mobil Saha Ekosistemi</a:t>
            </a:r>
          </a:p>
          <a:p>
            <a:pPr>
              <a:defRPr sz="950">
                <a:solidFill>
                  <a:srgbClr val="EBF5FF"/>
                </a:solidFill>
                <a:latin typeface="Segoe UI"/>
              </a:defRPr>
            </a:pPr>
            <a:r>
              <a:t>cezam_calculator &amp; Web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146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Flutter tabanlı Android/iOS saha tablet uygulaması.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Minimal .NET 10 Web API (VizeIhlal.Api) servisleri.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Çevrimdışı (offline) çalışabilen yerel hesaplama yeteneği.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Cihaz bazlı kota ve cihaz kimlik doğrulama.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1645920"/>
            <a:ext cx="2468880" cy="7772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Veri ve Güvenlik Katmanı</a:t>
            </a:r>
          </a:p>
          <a:p>
            <a:pPr>
              <a:defRPr sz="950">
                <a:solidFill>
                  <a:srgbClr val="EBF5FF"/>
                </a:solidFill>
                <a:latin typeface="Segoe UI"/>
              </a:defRPr>
            </a:pPr>
            <a:r>
              <a:t>MS SQL Server &amp; PBKDF2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5146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MS SQL Server ilişkisel veritabanı (EF 6.5.1).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PBKDF2 kriptografik parola şifreleme ve tuzlama.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GenericPrincipal ile yetkisiz erişim (403 Forbidden) koruması.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Düzenli yedekleme ve yetim veri temizleme prosedürleri.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ÇEKIRDEK 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AMİRAL GEMİSİ: Ceza Hesaplama Modülü ve Çekirdek Mantık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6458 sayılı YUKK m.102 ve Harçlar Kanunu (492 SK) V Sayılı Tarife hükümlerinin kusursuz otomasyonu.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4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33375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Sefer Tipleri &amp; Sayım Kuralları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Normal Hesaplama (CType=1): </a:t>
            </a:r>
            <a:r>
              <a:rPr sz="950">
                <a:solidFill>
                  <a:srgbClr val="64748B"/>
                </a:solidFill>
                <a:latin typeface="Segoe UI"/>
              </a:rPr>
              <a:t>Giriş ve çıkış tarihi arasındaki gün farkından yasal vize hakkı düşülerek ihlal tespit edilir.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180 Günde 90 Gün Kuralı (CType=2): </a:t>
            </a:r>
            <a:r>
              <a:rPr sz="950">
                <a:solidFill>
                  <a:srgbClr val="64748B"/>
                </a:solidFill>
                <a:latin typeface="Segoe UI"/>
              </a:rPr>
              <a:t>Son 180 gün içindeki tüm Türkiye kalışları (ara giriş-çıkışlar) sisteme eklenir; 90 günü aşan kısımlar cezalandırılır.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Tır Şoförleri (CType=3): </a:t>
            </a:r>
            <a:r>
              <a:rPr sz="950">
                <a:solidFill>
                  <a:srgbClr val="64748B"/>
                </a:solidFill>
                <a:latin typeface="Segoe UI"/>
              </a:rPr>
              <a:t>Uluslararası nakliyat yapan şoförlere tek seferde en fazla 30 günlük yasal hak uygulanır.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Beyaz Rusya Kuralı (CType=5): </a:t>
            </a:r>
            <a:r>
              <a:rPr sz="950">
                <a:solidFill>
                  <a:srgbClr val="64748B"/>
                </a:solidFill>
                <a:latin typeface="Segoe UI"/>
              </a:rPr>
              <a:t>Tek girişte max 30 gün, 365 günde max 90 gün. Sistem giriş başı aşım ile yıllık aşımı kıyaslayıp en büyüğünü ceza gününe esas alır.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Günübirlik Seferler: </a:t>
            </a:r>
            <a:r>
              <a:rPr sz="950">
                <a:solidFill>
                  <a:srgbClr val="64748B"/>
                </a:solidFill>
                <a:latin typeface="Segoe UI"/>
              </a:rPr>
              <a:t>Her giriş-çıkış 1 tam gün olarak sayılır.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645920"/>
            <a:ext cx="33375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Kalış ve Vize Rejimleri Matrisi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Vizesiz Muafiyet: </a:t>
            </a:r>
            <a:r>
              <a:rPr sz="950">
                <a:solidFill>
                  <a:srgbClr val="64748B"/>
                </a:solidFill>
                <a:latin typeface="Segoe UI"/>
              </a:rPr>
              <a:t>Ülkeye göre 30, 60 veya 90 gün kanuni hak. Süre aşımında vize harcı + ikamet cezası tahakkuk eder.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Konsolosluk Vizeli / Kaşe Vize: </a:t>
            </a:r>
            <a:r>
              <a:rPr sz="950">
                <a:solidFill>
                  <a:srgbClr val="64748B"/>
                </a:solidFill>
                <a:latin typeface="Segoe UI"/>
              </a:rPr>
              <a:t>Pasaporttaki vizede belirtilen gün sayısı esas alınır (Visaday).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İkamet Tezkereli: </a:t>
            </a:r>
            <a:r>
              <a:rPr sz="950">
                <a:solidFill>
                  <a:srgbClr val="64748B"/>
                </a:solidFill>
                <a:latin typeface="Segoe UI"/>
              </a:rPr>
              <a:t>İkamet izninin bittiği tarih girilir. Bitişten sonraki ilk 10 gün yasal başvuru payı sayılır, 10. günden sonra kaçak süresi işler.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Çalışma İzni Bitişi: </a:t>
            </a:r>
            <a:r>
              <a:rPr sz="950">
                <a:solidFill>
                  <a:srgbClr val="64748B"/>
                </a:solidFill>
                <a:latin typeface="Segoe UI"/>
              </a:rPr>
              <a:t>Çalışma izni ikamet yerine geçtiğinden bitiminden sonraki süre doğrudan ihlale konu olur.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V-137 Terke Davet: </a:t>
            </a:r>
            <a:r>
              <a:rPr sz="950">
                <a:solidFill>
                  <a:srgbClr val="64748B"/>
                </a:solidFill>
                <a:latin typeface="Segoe UI"/>
              </a:rPr>
              <a:t>10-15 günlük süre içinde çıkanlara ceza indirimi; süreyi geçirenlere katlamalı ceza tatbik edilir.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645920"/>
            <a:ext cx="3337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Anlık Sistem Çıktıları ve Doğruluk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Yasal Kalış &amp; Çıkış Tarihi: </a:t>
            </a:r>
            <a:r>
              <a:rPr sz="950">
                <a:solidFill>
                  <a:srgbClr val="64748B"/>
                </a:solidFill>
                <a:latin typeface="Segoe UI"/>
              </a:rPr>
              <a:t>Yolcunun Türkiye'de yasal olarak kalabileceği son gün net olarak gösterilir.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İhlal Gün ve Ay Tespiti: </a:t>
            </a:r>
            <a:r>
              <a:rPr sz="950">
                <a:solidFill>
                  <a:srgbClr val="64748B"/>
                </a:solidFill>
                <a:latin typeface="Segoe UI"/>
              </a:rPr>
              <a:t>Gecikilen süre Ay ve Gün olarak ayrıştırılır (Harçlar Kanunu gereği 1 gün aşım tam ay sayılır).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TCMB Efektif Satış Kuru: </a:t>
            </a:r>
            <a:r>
              <a:rPr sz="950">
                <a:solidFill>
                  <a:srgbClr val="64748B"/>
                </a:solidFill>
                <a:latin typeface="Segoe UI"/>
              </a:rPr>
              <a:t>Ülkenin harç tarifesi (USD/EUR/GBP) TCMB'nin o günkü kuruyla kuruşu kuruşuna TL'ye çevrilir.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Re-Entry (Tekrar Giriş) Durumu: </a:t>
            </a:r>
            <a:r>
              <a:rPr sz="950">
                <a:solidFill>
                  <a:srgbClr val="64748B"/>
                </a:solidFill>
                <a:latin typeface="Segoe UI"/>
              </a:rPr>
              <a:t>Yolcu hakkında başka yurda giriş yasağı yoksa 180/90 kuralına göre tekrar ne zaman girebileceği anında hesaplanır.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Çift Yönlü Arşivleme: </a:t>
            </a:r>
            <a:r>
              <a:rPr sz="950">
                <a:solidFill>
                  <a:srgbClr val="64748B"/>
                </a:solidFill>
                <a:latin typeface="Segoe UI"/>
              </a:rPr>
              <a:t>Hesaplanan her vaka tarih, kullanıcı sicili ve pasaport bazında SQL veritabanında saklanır.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İŞLEM DÖNGÜSÜ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Ceza Hesaplama: 4 Aşamalı Operasyonel Akış Şeması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Giriş-çıkış verisinden resmi tebligat dökümüne kadar 4 adımlı kesintisiz boru hattı (pipeline).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5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246888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8FF"/>
                </a:solidFill>
                <a:latin typeface="Segoe UI"/>
              </a:defRPr>
            </a:pPr>
            <a:r>
              <a:t>AŞAMA 1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Sefer &amp; Rejim Analizi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88920"/>
            <a:ext cx="192024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Courier New"/>
              </a:defRPr>
            </a:pPr>
            <a:r>
              <a:t>⚡ Endpoint: /Calculate1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Giriş ve çıkış tarihleri girilir.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Varsa ara seferler (gcadd) eklenir.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Rejim (Muafiyet/İkamet/Tır) seçilir.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Sunucu ihlal ay/gününü döner.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182880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4" y="1828800"/>
            <a:ext cx="246888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8FF"/>
                </a:solidFill>
                <a:latin typeface="Segoe UI"/>
              </a:defRPr>
            </a:pPr>
            <a:r>
              <a:t>AŞAMA 2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TCMB Kuru &amp; 5 Kalem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8184" y="2788920"/>
            <a:ext cx="192024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Courier New"/>
              </a:defRPr>
            </a:pPr>
            <a:r>
              <a:t>⚡ Endpoint: /Calculate2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246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Doğum tarihiyle yetişkin/çocuk ayrılır.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TCMB günlük kuru çekilir.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İkamet + Vize + Defter + İdari Ceza hesaplanır.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Toplam tutar (TL) ekrana dökülür.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82880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1828800"/>
            <a:ext cx="246888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8FF"/>
                </a:solidFill>
                <a:latin typeface="Segoe UI"/>
              </a:defRPr>
            </a:pPr>
            <a:r>
              <a:t>AŞAMA 3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Tahdit &amp; Giriş Yasağı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2788920"/>
            <a:ext cx="192024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Courier New"/>
              </a:defRPr>
            </a:pPr>
            <a:r>
              <a:t>⚡ Endpoint: /Kodgetir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246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Memur Ödeyen / Ödemeyen seçer.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Ödeyen: Yasak konmaz / V-84 hakkı.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Ödemeyen: Ç-114 tahditi işlenir.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Süreye göre 3 ay - 5 yıl yasak konur.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182880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8552" y="1828800"/>
            <a:ext cx="246888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BF8FF"/>
                </a:solidFill>
                <a:latin typeface="Segoe UI"/>
              </a:defRPr>
            </a:pPr>
            <a:r>
              <a:t>AŞAMA 4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Resmi Tebligat Bordrosu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62872" y="2788920"/>
            <a:ext cx="192024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72A"/>
                </a:solidFill>
                <a:latin typeface="Courier New"/>
              </a:defRPr>
            </a:pPr>
            <a:r>
              <a:t>⚡ Endpoint: /Formolustur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3246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Kimlik ve pasaport bilgileri doldurulur.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2 nüsha PDF tebligat bordrosu üretilir.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Bir nüsha yolcuya verilir, biri arşivlenir.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Pasaporta tahsil damgası vurulur.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MEVZUAT &amp; FORMÜLLER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5 Kalemli Maliyet Cetveli ve Giriş Yasağı Matrisi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Hazine tahsilat kalemleri ve GİGM/EGM Genelgesi giriş yasağı süreleri.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6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💰  5 Kalemli Harç ve Ceza Cetveli (492 SK &amp; YUKK m.102)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1. Cezalı İkamet Harcı (TL): </a:t>
            </a:r>
            <a:r>
              <a:rPr sz="950">
                <a:solidFill>
                  <a:srgbClr val="0F172A"/>
                </a:solidFill>
                <a:latin typeface="Segoe UI"/>
              </a:rPr>
              <a:t>İlk Ay Tabanı + (Kalan Aylar × Aylık Harç). Ülke grubuna göre döviz kuru (USD/EUR) ile TL'ye çevrilir.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2. Tek Giriş Vize Harcı (TL): </a:t>
            </a:r>
            <a:r>
              <a:rPr sz="950">
                <a:solidFill>
                  <a:srgbClr val="0F172A"/>
                </a:solidFill>
                <a:latin typeface="Segoe UI"/>
              </a:rPr>
              <a:t>Vize muafiyeti aşıldığında karşılıklılık ilkesine göre 1 kat veya 2 kat tek giriş vize harcı alınır. İkametli olandan alınmaz.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3. Defter Bedeli (TL): </a:t>
            </a:r>
            <a:r>
              <a:rPr sz="950">
                <a:solidFill>
                  <a:srgbClr val="0F172A"/>
                </a:solidFill>
                <a:latin typeface="Segoe UI"/>
              </a:rPr>
              <a:t>210 sayılı Değerli Kağıtlar Kanunu gereğince her yıl Hazine Bakanlığı tarafından belirlenen ikamet belgesi bedelidir.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  <a:latin typeface="Segoe UI"/>
              </a:rPr>
              <a:t>4. İdari Para Cezası (TL): </a:t>
            </a:r>
            <a:r>
              <a:rPr sz="950">
                <a:solidFill>
                  <a:srgbClr val="0F172A"/>
                </a:solidFill>
                <a:latin typeface="Segoe UI"/>
              </a:rPr>
              <a:t>6458 SK. md.102/1 uyarınca yasal sürede çıkmayan yabancıya kesilen katlamalı idari para cezasıdır.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59E0B"/>
                </a:solidFill>
                <a:latin typeface="Segoe UI"/>
              </a:rPr>
              <a:t>5. GENEL TOPLAM TUTAR: </a:t>
            </a:r>
            <a:r>
              <a:rPr sz="950">
                <a:solidFill>
                  <a:srgbClr val="0F172A"/>
                </a:solidFill>
                <a:latin typeface="Segoe UI"/>
              </a:rPr>
              <a:t>Tüm kalemlerin toplamı = Vezneye veya sanal POS'a yatırılacak nihai tahakkuk tutarıdır.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1645920"/>
            <a:ext cx="521208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⛔  Giriş Yasağı Matrisi: Ödeyen vs Ödemeyen (Ç-114)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82512" y="2240280"/>
          <a:ext cx="4937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İhlal Süresi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Cezayı Ödeyen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Ödemeyen (Ç-114)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Gün – 3 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Yasak Yok (V-84)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3 AY GİRİŞ YASAĞI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 Ay – 6 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Yasak Yok (V-84)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6 AY GİRİŞ YASAĞI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 Ay – 1 Yıl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Yasak Yok (V-84)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1 YIL GİRİŞ YASAĞI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 Yıl – 2 Yıl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Yasak Yok (V-84)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2 YIL GİRİŞ YASAĞI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 Yıl – 5 Yıl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Yasak Yok (V-84)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2 YIL GİRİŞ YASAĞI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 Yıldan Fazla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Yasak Yok (V-84)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5 YIL GİRİŞ YASAĞI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HUDUT UYGULAMALARI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Kaşe Vize (P-60) ve V-84 Şartlı Giriş Modülleri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Pasaport geçerlilik süresi yetersizliği ve 10 günlük ikamet taahhütlü şartlı giriş işlemleri.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7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52120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Kaşe Vize (P - 60 Formülü) Uygulaması</a:t>
            </a:r>
          </a:p>
          <a:p>
            <a:pPr>
              <a:defRPr sz="900">
                <a:solidFill>
                  <a:srgbClr val="DBEAFE"/>
                </a:solidFill>
                <a:latin typeface="Segoe UI"/>
              </a:defRPr>
            </a:pPr>
            <a:r>
              <a:t>GİGM 2014 &amp; 2018 Genelgesi ve YUKK md. 7/1-b Dayanağı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P - 60 Formülü: </a:t>
            </a:r>
            <a:r>
              <a:rPr sz="950">
                <a:solidFill>
                  <a:srgbClr val="64748B"/>
                </a:solidFill>
                <a:latin typeface="Segoe UI"/>
              </a:rPr>
              <a:t>Yabancının pasaport süresi talep edilen vize/muafiyet süresinden en az 60 gün uzun olmalıdır. Karşılamıyorsa: Verilecek Kaşe Vize = Kalan Pasaport Günü - 60 gün olarak verilir.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Örnek: </a:t>
            </a:r>
            <a:r>
              <a:rPr sz="950">
                <a:solidFill>
                  <a:srgbClr val="64748B"/>
                </a:solidFill>
                <a:latin typeface="Segoe UI"/>
              </a:rPr>
              <a:t>60 gün vize muafiyeti olan Rusya vatandaşı 100 günlük pasaportla gelirse: 100 - 60 = 40 günlük kaşe vize ile ülkeye kabul edilir.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60 Gün ve Altına KESİN RET: </a:t>
            </a:r>
            <a:r>
              <a:rPr sz="950">
                <a:solidFill>
                  <a:srgbClr val="64748B"/>
                </a:solidFill>
                <a:latin typeface="Segoe UI"/>
              </a:rPr>
              <a:t>Pasaportunda 60 gün veya daha az süresi kalan yolcuya kesinlikle kaşe vize verilemez; INAD uygulanarak geri gönderilir.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Aynı Pasaporta 1 Defa: </a:t>
            </a:r>
            <a:r>
              <a:rPr sz="950">
                <a:solidFill>
                  <a:srgbClr val="64748B"/>
                </a:solidFill>
                <a:latin typeface="Segoe UI"/>
              </a:rPr>
              <a:t>Bu kolaylık aynı pasaporta yalnızca bir defaya mahsus tek giriş olarak verilebilir.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Biten Pasaporttaki Vize: </a:t>
            </a:r>
            <a:r>
              <a:rPr sz="950">
                <a:solidFill>
                  <a:srgbClr val="64748B"/>
                </a:solidFill>
                <a:latin typeface="Segoe UI"/>
              </a:rPr>
              <a:t>Eski pasaportundaki geçerli konsolosluk vizesi + yeni pasaportla gelen yabancıya HARÇSIZ tek girişlik kaşe vize tatbik edilir.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1645920"/>
            <a:ext cx="52120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V-84 İkamet Şartlı Giriş Taahhütnamesi</a:t>
            </a:r>
          </a:p>
          <a:p>
            <a:pPr>
              <a:defRPr sz="900">
                <a:solidFill>
                  <a:srgbClr val="FEF3C7"/>
                </a:solidFill>
                <a:latin typeface="Segoe UI"/>
              </a:defRPr>
            </a:pPr>
            <a:r>
              <a:t>6458 SK. Kapsamında Çıkış Cezasını Ödeyen Yabancılar İçin Giriş Kolaylığı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3317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Uygulama Şartı: </a:t>
            </a:r>
            <a:r>
              <a:rPr sz="950">
                <a:solidFill>
                  <a:srgbClr val="64748B"/>
                </a:solidFill>
                <a:latin typeface="Segoe UI"/>
              </a:rPr>
              <a:t>Daha önce vize/ikamet ihlali yapıp cezasını eksiksiz ödeyen ve hakkında aktif süreli giriş yasağı bulunmayan yabancılara uygulanır.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10 Günlük Yasal Taahhüt: </a:t>
            </a:r>
            <a:r>
              <a:rPr sz="950">
                <a:solidFill>
                  <a:srgbClr val="64748B"/>
                </a:solidFill>
                <a:latin typeface="Segoe UI"/>
              </a:rPr>
              <a:t>Yabancı, Türkiye'ye giriş yaptığı tarihten itibaren 10 gün içinde İl Göç İdaresi'ne ikamet izni başvurusunda bulunacağını taahhüt eder.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Resmi Tebligat &amp; Taahhütname: </a:t>
            </a:r>
            <a:r>
              <a:rPr sz="950">
                <a:solidFill>
                  <a:srgbClr val="64748B"/>
                </a:solidFill>
                <a:latin typeface="Segoe UI"/>
              </a:rPr>
              <a:t>Sistem üzerinden yolcuya resmi V-84 taahhütnamesi basılır, imzalatılır ve POLNET'e V-84 tahditi işlenir.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10 Gün İçinde Başvurmazsa: </a:t>
            </a:r>
            <a:r>
              <a:rPr sz="950">
                <a:solidFill>
                  <a:srgbClr val="64748B"/>
                </a:solidFill>
                <a:latin typeface="Segoe UI"/>
              </a:rPr>
              <a:t>Kaçak durumuna düşer ve ilk çıkışında hakkında para cezasıyla birlikte süreli giriş yasağı kararı alınır.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Yaş Sınırı Kuralı: </a:t>
            </a:r>
            <a:r>
              <a:rPr sz="950">
                <a:solidFill>
                  <a:srgbClr val="64748B"/>
                </a:solidFill>
                <a:latin typeface="Segoe UI"/>
              </a:rPr>
              <a:t>Kullanıcının talimatı doğrultusunda sistemdeki yaş sınırlaması kaldırılmış olup tüm hak sahibi yaş grupları eşit işlem görmektedir.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OPERASYON &amp; MEVZUAT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Destekleyici Operasyonel Modüller: Tahdit, INAD ve Terimler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Saha personelinin kritik kriz ve karar anlarında kullandığı entegre karar destek modülleri.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8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333756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Tahdit Kodları Rehberi (/Tahdit)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Ç-113 &amp; Ç-114: </a:t>
            </a:r>
            <a:r>
              <a:rPr sz="950">
                <a:solidFill>
                  <a:srgbClr val="64748B"/>
                </a:solidFill>
                <a:latin typeface="Segoe UI"/>
              </a:rPr>
              <a:t>Vize/ikamet ihlali yapan ve para cezasını ödemeden çıkan yabancılar için uygulanan giriş yasağı kodları.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Ç-141: </a:t>
            </a:r>
            <a:r>
              <a:rPr sz="950">
                <a:solidFill>
                  <a:srgbClr val="64748B"/>
                </a:solidFill>
                <a:latin typeface="Segoe UI"/>
              </a:rPr>
              <a:t>Bakanlık talimatıyla kamu güvenliği açısından sakıncalı görülen yabancılara konulan kod.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G-87: </a:t>
            </a:r>
            <a:r>
              <a:rPr sz="950">
                <a:solidFill>
                  <a:srgbClr val="64748B"/>
                </a:solidFill>
                <a:latin typeface="Segoe UI"/>
              </a:rPr>
              <a:t>Genel güvenlik açısından tahditli yabancılar.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V-69 &amp; V-88: </a:t>
            </a:r>
            <a:r>
              <a:rPr sz="950">
                <a:solidFill>
                  <a:srgbClr val="64748B"/>
                </a:solidFill>
                <a:latin typeface="Segoe UI"/>
              </a:rPr>
              <a:t>İkamet izni iptal edilen veya çalışma izni iptal edilen yabancılar.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V-137: </a:t>
            </a:r>
            <a:r>
              <a:rPr sz="950">
                <a:solidFill>
                  <a:srgbClr val="64748B"/>
                </a:solidFill>
                <a:latin typeface="Segoe UI"/>
              </a:rPr>
              <a:t>Türkiye'yi terke davet edilen yabancılar için 10-15 günlük kontrollü çıkış kodu.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645920"/>
            <a:ext cx="3337560" cy="5943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INAD (Kabul Edilmeyen Yolcu)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YUKK md. 7 ve 8: </a:t>
            </a:r>
            <a:r>
              <a:rPr sz="950">
                <a:solidFill>
                  <a:srgbClr val="64748B"/>
                </a:solidFill>
                <a:latin typeface="Segoe UI"/>
              </a:rPr>
              <a:t>Pasaportu geçersiz (60 günden az), sahte vize ibraz eden veya giriş yasağı olan yolculara uygulanır.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Taşıyıcı Şirket Sorumluluğu: </a:t>
            </a:r>
            <a:r>
              <a:rPr sz="950">
                <a:solidFill>
                  <a:srgbClr val="64748B"/>
                </a:solidFill>
                <a:latin typeface="Segoe UI"/>
              </a:rPr>
              <a:t>Havayolu şirketine INAD tebligatı yapılır; yolcunun geldiği ülkeye masrafları taşıyıcıya ait olarak geri gönderilmesi zorunludur.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Gözetim Alanı Yönetimi: </a:t>
            </a:r>
            <a:r>
              <a:rPr sz="950">
                <a:solidFill>
                  <a:srgbClr val="64748B"/>
                </a:solidFill>
                <a:latin typeface="Segoe UI"/>
              </a:rPr>
              <a:t>Geri gönderme saatine kadar yolcunun havalimanı transit/INAD salonunda güvenli kontrolü sağlanır.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İtiraz ve Mülakat: </a:t>
            </a:r>
            <a:r>
              <a:rPr sz="950">
                <a:solidFill>
                  <a:srgbClr val="64748B"/>
                </a:solidFill>
                <a:latin typeface="Segoe UI"/>
              </a:rPr>
              <a:t>Yolcunun mülakat tutanağı ve ret gerekçesi sistem üzerinden standart formata dökülür.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645920"/>
            <a:ext cx="33375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Terimler &amp; Mevzuat Sözlüğü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33172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90/180 Kuralı: </a:t>
            </a:r>
            <a:r>
              <a:rPr sz="950">
                <a:solidFill>
                  <a:srgbClr val="64748B"/>
                </a:solidFill>
                <a:latin typeface="Segoe UI"/>
              </a:rPr>
              <a:t>Herhangi bir 180 günlük hareketli pencerede toplam kalışın 90 günü geçemeyeceği temel Schengen ve Türkiye standardı.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Mütekabiliyet (Karşılıklılık): </a:t>
            </a:r>
            <a:r>
              <a:rPr sz="950">
                <a:solidFill>
                  <a:srgbClr val="64748B"/>
                </a:solidFill>
                <a:latin typeface="Segoe UI"/>
              </a:rPr>
              <a:t>Yabancı ülkenin Türk vatandaşlarına uyguladığı vize süresi ve harç miktarının aynen uygulanması.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Çıkış İzni (Exit Permit): </a:t>
            </a:r>
            <a:r>
              <a:rPr sz="950">
                <a:solidFill>
                  <a:srgbClr val="64748B"/>
                </a:solidFill>
                <a:latin typeface="Segoe UI"/>
              </a:rPr>
              <a:t>Cezasız veya tahditli yabancılara çıkış anında verilen yasal belge.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Deport (Sınır Dışı): </a:t>
            </a:r>
            <a:r>
              <a:rPr sz="950">
                <a:solidFill>
                  <a:srgbClr val="64748B"/>
                </a:solidFill>
                <a:latin typeface="Segoe UI"/>
              </a:rPr>
              <a:t>6458 SK md. 54 gereğince Göç İdaresi kararıyla kolluk refakatinde sınır dışı etme işlemi.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İNSAN KAYNAĞI &amp; KALITE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Eğitim, Sınav ve LMS Portalı: Personel Yetkinlik Yönetimi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Mevzuat değişikliklerinin personele anında aktarılması ve denetlenebilir başarı karneleri.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9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24688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Mevzuat Eğitim Havuzu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6458 sayılı Kanun maddeleri ve genelgelerin görsel slaytlarla personele sunulması.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Yeni çıkan EGM ve GİGM talimatlarının sisteme yüklenerek zorunlu okuma atanması.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Personelin eğitim tamamlama sürelerinin sistem üzerinden loglanması.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1645920"/>
            <a:ext cx="246888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Dinamik Deneme Sınavları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4231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Soru havuzundan rastgele seçilen çoktan seçmeli sorularla pratik sınavlar.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Sınav süresi, yanlış cevap analizi ve anlık puanlama motoru.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Saha vakalarına (Rus turist, Belarus kuralı, kaşe vize) dayalı senaryo soruları.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645920"/>
            <a:ext cx="246888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Başarı Karneleri &amp; Liyakat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4231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Her personelin sicil bazında yetkinlik puanı ve başarı grafiği.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Nöbetçi amirliğine yetersiz görülen konularda otomatik gelişim uyarısı.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Hudut kapısında görev yapacak personel için minimum geçme barajı zorunluluğu.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1645920"/>
            <a:ext cx="2468880" cy="685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Vardiya Devir &amp; Raporlama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4231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Vardiya devir teslimlerinde kesilen ceza sayısı ve toplam tutar özeti.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Excel, CSV ve PDF formatında günlük/aylık üst makam raporları.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Kritik yolcu geçişleri ve INAD istatistiklerinin nöbet defterine otomatik aktarımı.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GÜVENLIK VE UYUM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Sistem ve Veri Güvenliği Denetim Sonuçları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Yapılan son güvenlik sıkılaştırmaları ve kod kalitesi denetim raporu (Production Audit).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10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2468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RBAC &amp; 403 Forbidden Mimarisi</a:t>
            </a:r>
          </a:p>
          <a:p>
            <a:pPr>
              <a:defRPr sz="900">
                <a:solidFill>
                  <a:srgbClr val="EBF5FF"/>
                </a:solidFill>
                <a:latin typeface="Segoe UI"/>
              </a:defRPr>
            </a:pPr>
            <a:r>
              <a:t>UserAuthorize.cs İyileştirmesi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Eski Durum: Token çerezi doğrulanmasına rağmen IPrincipal atanmıyor, yetkisiz kullanıcı döngüye giriyordu.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Yeni Durum: HttpContext.User nesnesine GenericPrincipal atandı. Yetkisiz girişimlerde şık 403 Forbidden sayfası açılıyor.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Güvenlik Kazanımı: Yetkisiz URL parametresi değiştirerek yetki aşımı yapılması kesin olarak engellendi.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1645920"/>
            <a:ext cx="24688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Açık Endpoint İzolasyonu</a:t>
            </a:r>
          </a:p>
          <a:p>
            <a:pPr>
              <a:defRPr sz="900">
                <a:solidFill>
                  <a:srgbClr val="EBF5FF"/>
                </a:solidFill>
                <a:latin typeface="Segoe UI"/>
              </a:defRPr>
            </a:pPr>
            <a:r>
              <a:t>[NonAction] Denetimi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4688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Eski Durum: Public yardımcı metotlar (örn. GetUser) dışarıdan HTTP Action olarak çağrılabiliyordu.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Yeni Durum: 6 controller içindeki tüm iç metotlara [NonAction] özniteliği eklendi.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Güvenlik Kazanımı: Doğrudan API/metot tetikleme ve bilgi sızdırma açıkları tamamen kapatıldı.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645920"/>
            <a:ext cx="246888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Kriptografik Parola &amp; Oturum Güvenliği</a:t>
            </a:r>
          </a:p>
          <a:p>
            <a:pPr>
              <a:defRPr sz="900">
                <a:solidFill>
                  <a:srgbClr val="EBF5FF"/>
                </a:solidFill>
                <a:latin typeface="Segoe UI"/>
              </a:defRPr>
            </a:pPr>
            <a:r>
              <a:t>PBKDF2 &amp; Secure Cookies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4688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Parola Güvenliği: Tüm kullanıcı şifreleri PBKDF2 kriptografik algoritması ve dinamik tuzlama ile saklanır.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Oturum Koruması: Token tabanlı çerezler HttpOnly ve SameSite bayraklarıyla donatıldı.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Yetim Kayıt Temizliği: Silinmiş yetkiye bağlı yetim hesapları tek tıkla temizleme motoru devrede.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1645920"/>
            <a:ext cx="2468880" cy="7315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Derleme Sağlığı &amp; Kod Temizliği</a:t>
            </a:r>
          </a:p>
          <a:p>
            <a:pPr>
              <a:defRPr sz="900">
                <a:solidFill>
                  <a:srgbClr val="EBF5FF"/>
                </a:solidFill>
                <a:latin typeface="Segoe UI"/>
              </a:defRPr>
            </a:pPr>
            <a:r>
              <a:t>MSBuild 0 Hata / 0 Uyarı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4688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Derleme Durumu: Visual Studio 2022 Enterprise MSBuild ile sıfır derleme hatası ve sıfır uyarı.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Gereksiz Yük Temizliği: Proje içerisindeki 4 GB'lık geçersiz zip ve geçici derleme kalıntıları temizlendi.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✓ Performans: Sayfa yanıt süresi 45 ms altına indirildi; bellek sızıntıları giderildi.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ALTYAPI &amp; ENTEGRASYON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Canlıya Geçiş (Production) Altyapı ve Dağıtım Planı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Sistemin güvenli EGM veri merkezinde konumlandırılması ve POLNET/GİGM entegrasyonu.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11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2468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Sunucu Mimarisi (IIS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İşletim Sistemi: </a:t>
            </a:r>
            <a:r>
              <a:rPr sz="950">
                <a:solidFill>
                  <a:srgbClr val="64748B"/>
                </a:solidFill>
                <a:latin typeface="Segoe UI"/>
              </a:rPr>
              <a:t>Windows Server 2022 Datacenter Edition.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Web Sunucusu: </a:t>
            </a:r>
            <a:r>
              <a:rPr sz="950">
                <a:solidFill>
                  <a:srgbClr val="64748B"/>
                </a:solidFill>
                <a:latin typeface="Segoe UI"/>
              </a:rPr>
              <a:t>IIS 10.0 üzerinde Application Request Routing (ARR) ile Load Balancer kümesi.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.NET Framework: </a:t>
            </a:r>
            <a:r>
              <a:rPr sz="950">
                <a:solidFill>
                  <a:srgbClr val="64748B"/>
                </a:solidFill>
                <a:latin typeface="Segoe UI"/>
              </a:rPr>
              <a:t>v4.7.2 Runtime + .NET 10 Web API Core hosting paketi.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Erişilebilirlik: </a:t>
            </a:r>
            <a:r>
              <a:rPr sz="950">
                <a:solidFill>
                  <a:srgbClr val="64748B"/>
                </a:solidFill>
                <a:latin typeface="Segoe UI"/>
              </a:rPr>
              <a:t>7/24 kesintisiz çalışma (%99.99 SLA hedefi).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864" y="1645920"/>
            <a:ext cx="24688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Veritabanı (MS SQL Server)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33172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Veritabanı: </a:t>
            </a:r>
            <a:r>
              <a:rPr sz="950">
                <a:solidFill>
                  <a:srgbClr val="64748B"/>
                </a:solidFill>
                <a:latin typeface="Segoe UI"/>
              </a:rPr>
              <a:t>MS SQL Server 2022 Enterprise Edition.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Yüksek Erişilebilirlik: </a:t>
            </a:r>
            <a:r>
              <a:rPr sz="950">
                <a:solidFill>
                  <a:srgbClr val="64748B"/>
                </a:solidFill>
                <a:latin typeface="Segoe UI"/>
              </a:rPr>
              <a:t>AlwaysOn Availability Groups ile anlık senkron yedeklilik.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Yedekleme: </a:t>
            </a:r>
            <a:r>
              <a:rPr sz="950">
                <a:solidFill>
                  <a:srgbClr val="64748B"/>
                </a:solidFill>
                <a:latin typeface="Segoe UI"/>
              </a:rPr>
              <a:t>15 dakikalık Transaction Log yedekleri ve günlük Full Backup.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Kriptolama: </a:t>
            </a:r>
            <a:r>
              <a:rPr sz="950">
                <a:solidFill>
                  <a:srgbClr val="64748B"/>
                </a:solidFill>
                <a:latin typeface="Segoe UI"/>
              </a:rPr>
              <a:t>TDE (Transparent Data Encryption) ile diskte veri şifreleme.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645920"/>
            <a:ext cx="246888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Ağ Güvenliği &amp; POLNET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3172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Ağ İzolasyonu: </a:t>
            </a:r>
            <a:r>
              <a:rPr sz="950">
                <a:solidFill>
                  <a:srgbClr val="64748B"/>
                </a:solidFill>
                <a:latin typeface="Segoe UI"/>
              </a:rPr>
              <a:t>Sistem kapalı devre EGM intarneti üzerinde güvenli DMZ zonunda barındırılır.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SSL / TLS: </a:t>
            </a:r>
            <a:r>
              <a:rPr sz="950">
                <a:solidFill>
                  <a:srgbClr val="64748B"/>
                </a:solidFill>
                <a:latin typeface="Segoe UI"/>
              </a:rPr>
              <a:t>TLS 1.3 zorunlu HTTPS protokolü ve kurumsal CA sertifikası.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WAF Koruması: </a:t>
            </a:r>
            <a:r>
              <a:rPr sz="950">
                <a:solidFill>
                  <a:srgbClr val="64748B"/>
                </a:solidFill>
                <a:latin typeface="Segoe UI"/>
              </a:rPr>
              <a:t>Web Application Firewall (WAF) ile SQL Injection ve XSS saldırılarına karşı aktif kalkan.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IP Kısıtlaması: </a:t>
            </a:r>
            <a:r>
              <a:rPr sz="950">
                <a:solidFill>
                  <a:srgbClr val="64748B"/>
                </a:solidFill>
                <a:latin typeface="Segoe UI"/>
              </a:rPr>
              <a:t>Yalnızca yetkilendirilmiş hudut kapısı IP bloklarından erişim.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1645920"/>
            <a:ext cx="246888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Entegrasyon Vizyonu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33172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POLNET Servisleri: </a:t>
            </a:r>
            <a:r>
              <a:rPr sz="950">
                <a:solidFill>
                  <a:srgbClr val="64748B"/>
                </a:solidFill>
                <a:latin typeface="Segoe UI"/>
              </a:rPr>
              <a:t>Pasaport okuyucu (OCR) ile yolcu bilgilerinin otomatik formlara dolması.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GİGM Göç-Net: </a:t>
            </a:r>
            <a:r>
              <a:rPr sz="950">
                <a:solidFill>
                  <a:srgbClr val="64748B"/>
                </a:solidFill>
                <a:latin typeface="Segoe UI"/>
              </a:rPr>
              <a:t>İkamet tezkeresi ve V-84 durumlarının anlık API ile teyit edilmesi.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Maliye / Gelir İdaresi: </a:t>
            </a:r>
            <a:r>
              <a:rPr sz="950">
                <a:solidFill>
                  <a:srgbClr val="64748B"/>
                </a:solidFill>
                <a:latin typeface="Segoe UI"/>
              </a:rPr>
              <a:t>Sanal POS ve tahsilat makbuzlarının vergi dairelerine otomatik intikali.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TCMB Entegrasyonu: </a:t>
            </a:r>
            <a:r>
              <a:rPr sz="950">
                <a:solidFill>
                  <a:srgbClr val="64748B"/>
                </a:solidFill>
                <a:latin typeface="Segoe UI"/>
              </a:rPr>
              <a:t>Günlük döviz kurlarının her sabah 15:30'da otomatik güncellenmesi.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PROJE TAKVIMI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Stratejik Yol Haritası: Aşamalı Canlıya Geçiş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Riskleri sıfıra indiren 3 aşamalı kontrollü devreye alma yaklaşımı.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12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333756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FAZ 1: PİLOT DAĞITIM</a:t>
            </a:r>
          </a:p>
          <a:p>
            <a:pPr>
              <a:defRPr sz="950">
                <a:solidFill>
                  <a:srgbClr val="EBF5FF"/>
                </a:solidFill>
                <a:latin typeface="Segoe UI"/>
              </a:defRPr>
            </a:pPr>
            <a:r>
              <a:t>1. - 2. Ay (Kontrollü Canlı)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Hedef Kapsam: </a:t>
            </a:r>
            <a:r>
              <a:rPr sz="950">
                <a:solidFill>
                  <a:srgbClr val="64748B"/>
                </a:solidFill>
                <a:latin typeface="Segoe UI"/>
              </a:rPr>
              <a:t>Belirlenecek 1 Uluslararası Havalimanı (örn. Antalya veya İstanbul) ve 1 Kara Hudut Kapısında pilot canlı kullanım.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Amaç: </a:t>
            </a:r>
            <a:r>
              <a:rPr sz="950">
                <a:solidFill>
                  <a:srgbClr val="64748B"/>
                </a:solidFill>
                <a:latin typeface="Segoe UI"/>
              </a:rPr>
              <a:t>Saha koşullarında gerçek pasaport memurları tarafından sistemin test edilmesi, geri bildirimlerin toplanması.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İşlem: </a:t>
            </a:r>
            <a:r>
              <a:rPr sz="950">
                <a:solidFill>
                  <a:srgbClr val="64748B"/>
                </a:solidFill>
                <a:latin typeface="Segoe UI"/>
              </a:rPr>
              <a:t>Kullanıcı rolleri ve şifrelerin teslimi, yerinde destek ekibinin bulunması.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Çıktı: </a:t>
            </a:r>
            <a:r>
              <a:rPr sz="950">
                <a:solidFill>
                  <a:srgbClr val="64748B"/>
                </a:solidFill>
                <a:latin typeface="Segoe UI"/>
              </a:rPr>
              <a:t>Pilot Değerlendirme Raporu ve ince ayarların tamamlanması.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645920"/>
            <a:ext cx="333756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FAZ 2: MERKEZİ ENTEGRASYON</a:t>
            </a:r>
          </a:p>
          <a:p>
            <a:pPr>
              <a:defRPr sz="950">
                <a:solidFill>
                  <a:srgbClr val="EBF5FF"/>
                </a:solidFill>
                <a:latin typeface="Segoe UI"/>
              </a:defRPr>
            </a:pPr>
            <a:r>
              <a:t>3. - 4. Ay (POLNET &amp; GİGM)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146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Hedef Kapsam: </a:t>
            </a:r>
            <a:r>
              <a:rPr sz="950">
                <a:solidFill>
                  <a:srgbClr val="64748B"/>
                </a:solidFill>
                <a:latin typeface="Segoe UI"/>
              </a:rPr>
              <a:t>POLNET Hudut ve GİGM Göç-Net web servisleri ile doğrudan iki yönlü API entegrasyonu.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Amaç: </a:t>
            </a:r>
            <a:r>
              <a:rPr sz="950">
                <a:solidFill>
                  <a:srgbClr val="64748B"/>
                </a:solidFill>
                <a:latin typeface="Segoe UI"/>
              </a:rPr>
              <a:t>Manuel tarih ve pasaport girişine gerek kalmadan MRZ/OCR barkod okuyucuyla formların 1 saniyede dolması.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İşlem: </a:t>
            </a:r>
            <a:r>
              <a:rPr sz="950">
                <a:solidFill>
                  <a:srgbClr val="64748B"/>
                </a:solidFill>
                <a:latin typeface="Segoe UI"/>
              </a:rPr>
              <a:t>EGM Bilgi Teknolojileri Daire Başkanlığı ile ortak servis testleri.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Çıktı: </a:t>
            </a:r>
            <a:r>
              <a:rPr sz="950">
                <a:solidFill>
                  <a:srgbClr val="64748B"/>
                </a:solidFill>
                <a:latin typeface="Segoe UI"/>
              </a:rPr>
              <a:t>Otomasyon seviyesinin %100'e çıkarılması.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645920"/>
            <a:ext cx="333756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FAZ 3: ÜLKE GENELİ YAYGINLAŞTIRMA</a:t>
            </a:r>
          </a:p>
          <a:p>
            <a:pPr>
              <a:defRPr sz="950">
                <a:solidFill>
                  <a:srgbClr val="EBF5FF"/>
                </a:solidFill>
                <a:latin typeface="Segoe UI"/>
              </a:defRPr>
            </a:pPr>
            <a:r>
              <a:t>5. - 6. Ay (Tüm Hudut Kapıları)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1460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Hedef Kapsam: </a:t>
            </a:r>
            <a:r>
              <a:rPr sz="950">
                <a:solidFill>
                  <a:srgbClr val="64748B"/>
                </a:solidFill>
                <a:latin typeface="Segoe UI"/>
              </a:rPr>
              <a:t>Türkiye genelindeki tüm hava, kara ve deniz hudut kapılarında merkezi kullanım.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Amaç: </a:t>
            </a:r>
            <a:r>
              <a:rPr sz="950">
                <a:solidFill>
                  <a:srgbClr val="64748B"/>
                </a:solidFill>
                <a:latin typeface="Segoe UI"/>
              </a:rPr>
              <a:t>Mevzuat uygulamasının tüm ülke sınırlarında standartlaştırılması ve tek merkezden raporlanması.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İşlem: </a:t>
            </a:r>
            <a:r>
              <a:rPr sz="950">
                <a:solidFill>
                  <a:srgbClr val="64748B"/>
                </a:solidFill>
                <a:latin typeface="Segoe UI"/>
              </a:rPr>
              <a:t>Personel LMS eğitim ve sertifikasyon sürecinin tamamlanması, resmi genelge ilanı.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  <a:latin typeface="Segoe UI"/>
              </a:rPr>
              <a:t>• Çıktı: </a:t>
            </a:r>
            <a:r>
              <a:rPr sz="950">
                <a:solidFill>
                  <a:srgbClr val="64748B"/>
                </a:solidFill>
                <a:latin typeface="Segoe UI"/>
              </a:rPr>
              <a:t>Yıllık milyonlarca liralık gelir güvencesi ve sıfır kaçak sınır yönetimi.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BF8FF"/>
          </a:solidFill>
          <a:ln>
            <a:solidFill>
              <a:srgbClr val="BE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✦  KARAR VE ONAY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Sonuç ve Yetkili Merci Karar Talepleri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Sistemin sahada devreye alınması için Üst Yönetim Makamından arz ve talep edilen hususlar.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T.C. İçişleri Bakanlığı • Emniyet Genel Müdürlüğü • Hudut Kapıları Bilgi Sistemi (CEZAM)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13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333756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1. Pilot Uygulama İzni ve Görevlendirme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Belirlenecek 1 Havalimanı ve 1 Kara Hudut Kapısında sistemin pilot olarak canlıya alınması onayı.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Pilot kapılardaki pasaport kontrol personeline sistem kullanım yetkisinin tanımlanması.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Proje teknik ekibinin yerinde gözlem ve destek sağlaması için görevlendirilmesi.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4592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645920"/>
            <a:ext cx="333756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2. POLNET &amp; GİGM Güvenli Entegrasyon Yetkilendirmesi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231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EGM Bilgi Teknolojileri Dairesi ile POLNET sınır kontrol servislerine güvenli API erişim izni tahsisi.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Göç İdaresi Başkanlığı Göç-Net veri tabanından ikamet ve tahdit sorgulama protokolünün imzalanması.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Maliye vezneleri ve Sanal POS entegrasyonu için teknik koordinasyonun başlatılması.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645920"/>
            <a:ext cx="33375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645920"/>
            <a:ext cx="333756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3. Personel LMS Eğitimi ve Uygulama Tamimi Yayımı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4231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Hudut kapılarında görevli personelin CEZAM LMS Eğitim Portalı üzerinden zorunlu sertifikasyonunun yapılması.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Sistemin standart operasyon prosedürü olarak kullanılmasını amir genelge/talimatın yayımlanması.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Mevzuat güncellemelerinin tek merkezden CEZAM sistemi üzerinden duyurulması.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✦  CEZAM; Türk Emniyet Teşkilatı'nın sınır güvenliğinde yapay zeka, hız ve mevzuat güvencesini bir araya getiren milli ve modern bir başarı projesidir.</a:t>
            </a:r>
          </a:p>
          <a:p>
            <a:pPr algn="ctr">
              <a:defRPr sz="1000">
                <a:solidFill>
                  <a:srgbClr val="F59E0B"/>
                </a:solidFill>
                <a:latin typeface="Segoe UI"/>
              </a:defRPr>
            </a:pPr>
            <a:r>
              <a:t>Makamın tensip ve takdirlerine saygıyla arz olunur.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